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stakeholder, not the algorithm. This use case is about a decision a bank makes thousands of times a 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(2 minutes)
The stakeholder is the same Credit Policy Analyst for both KLU and Path 3. The difference is depth, not story.
Stress the human side: every threshold decides whether a real application is read by a person or turned away by a machine.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(1 minute)
Read the quote aloud. Pause. Then: "This time your work makes decisions about people. That raises the bar on how carefully you think about every number."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(2 minutes)
Emphasise 5.3, 5.5 and 5.7.
5.3: FOIR is the most important feature in the dataset and students build it themselves.
5.5: "A model that auto-declines at 0.5 turns away 1 in 5 good customers it touches. The bank sets the limit — 5% — and you find the threshold."
5.7: "If I cannot see a threshold, a number of hours, and a group the model should not touch, the briefing is not done."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(2 minutes)
Most common weak answer — Question (Q): "Build a model to predict loan approval." Push for the decision the model enables.
SSOT: raise that the target is the analysts' historical decision, not whether the customer repaid. The model copies past judgement, including any bias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(2 minutes)
Focus on the Threshold row. A student who leaves the threshold at 0.5 has built a model but not a pre-screener.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POINT (1–2 minutes)
Environment check: python -c "import pandas, numpy, matplotlib, seaborn, sklearn; print('Ready')"
scikit-learn is new on the list compared to MUC01 — check it before the session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Confirm the deadline here.
"Whether individual or group — CBIM canvas first, then the steps in sequence."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C2B4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Calibo AI Academy  ·  MUC02 Trainer Briefing  ·  Path 2, KLU</a:t>
            </a:r>
            <a:endParaRPr lang="en-US" sz="800" dirty="0"/>
          </a:p>
        </p:txBody>
      </p:sp>
      <p:sp>
        <p:nvSpPr>
          <p:cNvPr id="4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5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LAI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1C2B4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C2B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Calibo AI Academy  ·  Path 2  ·  KLU Batch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MUC02 — Trainer Briefing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04672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5D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Pre-Screening Engine — Loan Intake Optimisation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8046720" cy="0"/>
          </a:xfrm>
          <a:prstGeom prst="line">
            <a:avLst/>
          </a:prstGeom>
          <a:noFill/>
          <a:ln w="9525">
            <a:solidFill>
              <a:srgbClr val="4A5A7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80467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8E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Supervised Learning Part 1  ·  BFSI — Retail Lending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3017520"/>
            <a:ext cx="1874520" cy="100584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27248"/>
            <a:ext cx="1874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38728"/>
            <a:ext cx="1874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 length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3017520"/>
            <a:ext cx="1874520" cy="100584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06040" y="3127248"/>
            <a:ext cx="1874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steps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3538728"/>
            <a:ext cx="1874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tasks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3017520"/>
            <a:ext cx="1874520" cy="100584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663440" y="3127248"/>
            <a:ext cx="1874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files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3538728"/>
            <a:ext cx="1874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share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3017520"/>
            <a:ext cx="1874520" cy="100584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20840" y="3127248"/>
            <a:ext cx="187452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3538728"/>
            <a:ext cx="18745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STORY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you are building this model for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105156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5720" cy="10515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207008"/>
            <a:ext cx="795528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mid-size private bank receives about 3,000 personal loan applications a month. Every one gets a 25-minute manual review, and nearly half end up declined — many for reasons visible in the first minute. The Head of Retail Lending has asked the Credit Policy Analyst: can a model pre-screen applications so analysts spend their time where judgement is needed?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31720"/>
            <a:ext cx="8229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needs two things from you: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4023360" cy="173736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651760"/>
            <a:ext cx="45720" cy="17373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724912"/>
            <a:ext cx="3794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 model the credit team can trust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017520"/>
            <a:ext cx="379476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decisions today? How well can a model predict them? Where does it fail?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651760"/>
            <a:ext cx="4023360" cy="173736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2651760"/>
            <a:ext cx="45720" cy="173736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2724912"/>
            <a:ext cx="3794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 threshold the bank can defend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00600" y="3017520"/>
            <a:ext cx="379476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applications can be auto-declined while wrongly declining no more than 5% of good customers — and what is that worth in analyst hours?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0312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502920"/>
            <a:ext cx="7680960" cy="1097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day you understand the value of the work you do,</a:t>
            </a:r>
            <a:endParaRPr lang="en-US" sz="18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800" i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day you add more value to the work you do."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this use case: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606040"/>
            <a:ext cx="8229600" cy="2011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confusion matrix is not a score. Every false positive is a creditworthy customer turned away. Students should be able to say how many.</a:t>
            </a:r>
            <a:endParaRPr lang="en-US" sz="11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a business decision. The bank sets the risk limit; the model only tells you where that limit falls.</a:t>
            </a:r>
            <a:endParaRPr lang="en-US" sz="11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is part of the job, not an add-on. Leaving gender out of the model does not, on its own, make the model fair.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continuous story — each step builds on the previous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5720" cy="7772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Load, inspect &amp; clean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444752"/>
            <a:ext cx="3840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incomes, blank credit scores, 12 annual incomes. Every decision written down.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1143000"/>
            <a:ext cx="402336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143000"/>
            <a:ext cx="45720" cy="7772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73168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What drives approval?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4773168" y="1444752"/>
            <a:ext cx="3840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by credit score band and employment type. Find the 650 cliff.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402336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11680"/>
            <a:ext cx="45720" cy="777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66928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Affordability features  ★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566928" y="2313432"/>
            <a:ext cx="3840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FOIR, loan-to-income, NTC flag. Find the FOIR cliff.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2011680"/>
            <a:ext cx="402336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011680"/>
            <a:ext cx="45720" cy="7772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773168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Logistic regression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4773168" y="2313432"/>
            <a:ext cx="3840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Declined. Confusion matrix and coefficients in business language.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402336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80360"/>
            <a:ext cx="45720" cy="777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 Auto-decline threshold  ★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182112"/>
            <a:ext cx="3840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table, 5% wrong-decline rule, applications and hours per month.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2880360"/>
            <a:ext cx="402336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2880360"/>
            <a:ext cx="45720" cy="77724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773168" y="2926080"/>
            <a:ext cx="3840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5.6  Fairness check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773168" y="3182112"/>
            <a:ext cx="3840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by gender, within employment type, and from the model.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402336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49040"/>
            <a:ext cx="45720" cy="77724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66928" y="3794760"/>
            <a:ext cx="38404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5.7  Credit Policy Briefing  ★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66928" y="4050792"/>
            <a:ext cx="384048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sentences. Threshold, hours, drivers, NTC caveat, fairness.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457200" y="4526280"/>
            <a:ext cx="365760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Most important steps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PROBLEM CANVAS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code — 15 to 20 minutes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canvas before touching the data. This is not optional.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978408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45720" cy="9784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444752"/>
            <a:ext cx="3794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 (S)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1737360"/>
            <a:ext cx="3794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applications a month, each reviewed manually for ~25 minutes.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978408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45720" cy="9784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00600" y="1444752"/>
            <a:ext cx="3794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(C)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1737360"/>
            <a:ext cx="3794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time spent on clear-cut declines; good applicants wait longer.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2441448"/>
            <a:ext cx="4023360" cy="978408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41448"/>
            <a:ext cx="45720" cy="9784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514600"/>
            <a:ext cx="3794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(Q)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807208"/>
            <a:ext cx="3794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"build a model" — which applications can safely leave manual review, and at what threshold?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2441448"/>
            <a:ext cx="4023360" cy="978408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441448"/>
            <a:ext cx="45720" cy="9784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00600" y="2514600"/>
            <a:ext cx="3794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800600" y="2807208"/>
            <a:ext cx="3794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— and the decision column is past analyst judgement, not repayment.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57200" y="3511296"/>
            <a:ext cx="4023360" cy="978408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11296"/>
            <a:ext cx="45720" cy="9784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584448"/>
            <a:ext cx="3794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definition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3877056"/>
            <a:ext cx="3794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threshold within the 5% risk limit and a stated number of hours freed.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63440" y="3511296"/>
            <a:ext cx="4023360" cy="978408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511296"/>
            <a:ext cx="45720" cy="978408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00600" y="3584448"/>
            <a:ext cx="379476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800600" y="3877056"/>
            <a:ext cx="3794760" cy="56692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Policy Analyst — and the analysts and applicants affected.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WORK LOOKS LIKE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passing and distinction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430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108960"/>
                <a:gridCol w="38404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often see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we want to see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B4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with blank credit scores dropped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NTC applicants kept and flagged — 9% of all applicants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model is 79% accurate"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"At 0.5, 225 good applicants would be wrongly declined"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 at 0.5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"0.90 — 15% auto-declined, 4.7% wrong, ~190 analyst hours a month"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C2B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Fairness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"We did not use gender, so it is fair"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"The gap comes from income and job mix — monitor outcomes by gender after launch"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E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3EC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SETUP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files — both go in the same folder as the notebook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5720" cy="9144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216152"/>
            <a:ext cx="80010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document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94360" y="1508760"/>
            <a:ext cx="8001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MUC02_KLU_Credit_PreScreening.docx  —  full instructions, deliverables, CBIM canvas and submission checklist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94560"/>
            <a:ext cx="45720" cy="9144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2267712"/>
            <a:ext cx="80010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2560320"/>
            <a:ext cx="8001000" cy="5029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MUC02_Credit_PreScreening_Dataset.csv  —  12,000 applications  ·  19 columns  ·  Apr–Sep 2026  ·  cities across India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91440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246120"/>
            <a:ext cx="45720" cy="91440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310128"/>
            <a:ext cx="795528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if not already installed: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611880"/>
            <a:ext cx="795528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pandas numpy matplotlib seaborn scikit-learn jupyter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body" hasCustomPrompt="1"/>
          </p:nvPr>
        </p:nvSpPr>
        <p:spPr>
          <a:xfrm>
            <a:off x="457200" y="228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b="1" spc="200" kern="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00" dirty="0"/>
          </a:p>
        </p:txBody>
      </p:sp>
      <p:sp>
        <p:nvSpPr>
          <p:cNvPr id="3" name="Text 2"/>
          <p:cNvSpPr/>
          <p:nvPr>
            <p:ph idx="103" type="title" hasCustomPrompt="1"/>
          </p:nvPr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submit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9525">
            <a:solidFill>
              <a:srgbClr val="C9CE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43000"/>
            <a:ext cx="4023360" cy="301752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45720" cy="30175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63440" y="1143000"/>
            <a:ext cx="4023360" cy="3017520"/>
          </a:xfrm>
          <a:prstGeom prst="rect">
            <a:avLst/>
          </a:prstGeom>
          <a:solidFill>
            <a:srgbClr val="F5F5F5"/>
          </a:solidFill>
          <a:ln w="9525">
            <a:solidFill>
              <a:srgbClr val="C9CE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43000"/>
            <a:ext cx="45720" cy="3017520"/>
          </a:xfrm>
          <a:prstGeom prst="rect">
            <a:avLst/>
          </a:prstGeom>
          <a:solidFill>
            <a:srgbClr val="4A5568"/>
          </a:solidFill>
          <a:ln w="12700">
            <a:solidFill>
              <a:srgbClr val="4A55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4800600" y="1207008"/>
            <a:ext cx="3657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C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of 2–3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1554480"/>
            <a:ext cx="379476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[YourName]_MUC02_KLU_Notebook.ipynb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canvas at top  →  Steps 5.1 through 5.7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end-to-end — kernel restart + run all cells tested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[YourName]_MUC02_KLU_Summary.docx (max 400 words)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554480"/>
            <a:ext cx="379476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[TeamName]_MUC02_KLU_Notebook.ipynb — each step credits who built it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canvas completed together — all members contributed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[TeamName]_MUC02_KLU_Summary.docx (max 500 words)</a:t>
            </a:r>
            <a:endParaRPr lang="en-US" sz="1000" dirty="0"/>
          </a:p>
          <a:p>
            <a:pPr algn="l"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150-word individual reflection from each member — submitted separately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9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Deadline: to be confirmed — update the student document before distributing.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A94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8046720" cy="4572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before you start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8046720" cy="86868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234440"/>
            <a:ext cx="73152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CBIM canvas first. Every time. Before any code.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8046720" cy="86868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286000"/>
            <a:ext cx="73152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threshold is the answer. Use the table, apply the 5% rule, and state what it frees up in applications and hours.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8046720" cy="868680"/>
          </a:xfrm>
          <a:prstGeom prst="rect">
            <a:avLst/>
          </a:prstGeom>
          <a:solidFill>
            <a:srgbClr val="26375A"/>
          </a:solidFill>
          <a:ln w="9525">
            <a:solidFill>
              <a:srgbClr val="3A4C7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337560"/>
            <a:ext cx="7315200" cy="6400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applicants should always see a human. Find out who, and say so in your briefing.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AE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questions before we begin?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Calibo AI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Calibo AI Academy</dc:creator>
  <cp:lastModifiedBy>Calibo AI Academy</cp:lastModifiedBy>
  <cp:revision>1</cp:revision>
  <dcterms:created xsi:type="dcterms:W3CDTF">2026-10-10T19:06:11Z</dcterms:created>
  <dcterms:modified xsi:type="dcterms:W3CDTF">2026-10-10T19:06:11Z</dcterms:modified>
</cp:coreProperties>
</file>