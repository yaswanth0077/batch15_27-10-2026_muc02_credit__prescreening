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B4A"/>
                </a:solidFill>
                <a:latin typeface="Calibri"/>
              </a:rPr>
              <a:t>Approval rate by credit score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Below 600</c:v>
                  </c:pt>
                  <c:pt idx="1">
                    <c:v>600–649</c:v>
                  </c:pt>
                  <c:pt idx="2">
                    <c:v>650–699</c:v>
                  </c:pt>
                  <c:pt idx="3">
                    <c:v>700–749</c:v>
                  </c:pt>
                  <c:pt idx="4">
                    <c:v>750–799</c:v>
                  </c:pt>
                  <c:pt idx="5">
                    <c:v>800+</c:v>
                  </c:pt>
                  <c:pt idx="6">
                    <c:v>No score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</c:v>
                </c:pt>
                <c:pt idx="1">
                  <c:v>4.3</c:v>
                </c:pt>
                <c:pt idx="2">
                  <c:v>32.8</c:v>
                </c:pt>
                <c:pt idx="3">
                  <c:v>54.6</c:v>
                </c:pt>
                <c:pt idx="4">
                  <c:v>77.7</c:v>
                </c:pt>
                <c:pt idx="5">
                  <c:v>85.4</c:v>
                </c:pt>
                <c:pt idx="6">
                  <c:v>53.9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B4A"/>
                </a:solidFill>
                <a:latin typeface="Calibri"/>
              </a:rPr>
              <a:t>Approval rate by FOIR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Below 30%</c:v>
                  </c:pt>
                  <c:pt idx="1">
                    <c:v>30–40%</c:v>
                  </c:pt>
                  <c:pt idx="2">
                    <c:v>40–50%</c:v>
                  </c:pt>
                  <c:pt idx="3">
                    <c:v>50–55%</c:v>
                  </c:pt>
                  <c:pt idx="4">
                    <c:v>Above 55%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65.4</c:v>
                </c:pt>
                <c:pt idx="1">
                  <c:v>59</c:v>
                </c:pt>
                <c:pt idx="2">
                  <c:v>47.4</c:v>
                </c:pt>
                <c:pt idx="3">
                  <c:v>31.7</c:v>
                </c:pt>
                <c:pt idx="4">
                  <c:v>15.5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B4A"/>
                </a:solidFill>
                <a:latin typeface="Calibri"/>
              </a:rPr>
              <a:t>Logistic regression coefficients (scaled features)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to credit</c:v>
                  </c:pt>
                  <c:pt idx="1">
                    <c:v>Salaried</c:v>
                  </c:pt>
                  <c:pt idx="2">
                    <c:v>Debt consolidation</c:v>
                  </c:pt>
                  <c:pt idx="3">
                    <c:v>Gig / Contract</c:v>
                  </c:pt>
                  <c:pt idx="4">
                    <c:v>Late payments (24m)</c:v>
                  </c:pt>
                  <c:pt idx="5">
                    <c:v>Credit score</c:v>
                  </c:pt>
                  <c:pt idx="6">
                    <c:v>FOIR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0.38</c:v>
                </c:pt>
                <c:pt idx="1">
                  <c:v>-0.42</c:v>
                </c:pt>
                <c:pt idx="2">
                  <c:v>0.51</c:v>
                </c:pt>
                <c:pt idx="3">
                  <c:v>0.64</c:v>
                </c:pt>
                <c:pt idx="4">
                  <c:v>0.98</c:v>
                </c:pt>
                <c:pt idx="5">
                  <c:v>-1.01</c:v>
                </c:pt>
                <c:pt idx="6">
                  <c:v>1.22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B4A"/>
                </a:solidFill>
                <a:latin typeface="Calibri"/>
              </a:rPr>
              <a:t>Threshold trade-off (test set)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applications auto-declined</c:v>
                </c:pt>
              </c:strCache>
            </c:strRef>
          </c:tx>
          <c:spPr>
            <a:solidFill>
              <a:srgbClr val="1C2B4A"/>
            </a:solidFill>
            <a:ln w="25400" cap="flat">
              <a:solidFill>
                <a:srgbClr val="1C2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2B4A"/>
              </a:solidFill>
              <a:ln w="9525" cap="flat">
                <a:solidFill>
                  <a:srgbClr val="1C2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44.9</c:v>
                </c:pt>
                <c:pt idx="1">
                  <c:v>37.6</c:v>
                </c:pt>
                <c:pt idx="2">
                  <c:v>30.8</c:v>
                </c:pt>
                <c:pt idx="3">
                  <c:v>23.4</c:v>
                </c:pt>
                <c:pt idx="4">
                  <c:v>19.7</c:v>
                </c:pt>
                <c:pt idx="5">
                  <c:v>15.2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auto-declines that were good customers</c:v>
                </c:pt>
              </c:strCache>
            </c:strRef>
          </c:tx>
          <c:spPr>
            <a:solidFill>
              <a:srgbClr val="B54848"/>
            </a:solidFill>
            <a:ln w="25400" cap="flat">
              <a:solidFill>
                <a:srgbClr val="B548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54848"/>
              </a:solidFill>
              <a:ln w="9525" cap="flat">
                <a:solidFill>
                  <a:srgbClr val="B548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20.9</c:v>
                </c:pt>
                <c:pt idx="1">
                  <c:v>16.8</c:v>
                </c:pt>
                <c:pt idx="2">
                  <c:v>12</c:v>
                </c:pt>
                <c:pt idx="3">
                  <c:v>7.1</c:v>
                </c:pt>
                <c:pt idx="4">
                  <c:v>5.9</c:v>
                </c:pt>
                <c:pt idx="5">
                  <c:v>4.7</c:v>
                </c:pt>
                <c:pt idx="6">
                  <c:v>2.1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5% risk limit</c:v>
                </c:pt>
              </c:strCache>
            </c:strRef>
          </c:tx>
          <c:spPr>
            <a:solidFill>
              <a:srgbClr val="9AA3B2"/>
            </a:solidFill>
            <a:ln w="25400" cap="flat">
              <a:solidFill>
                <a:srgbClr val="9AA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3B2"/>
              </a:solidFill>
              <a:ln w="9525" cap="flat">
                <a:solidFill>
                  <a:srgbClr val="9AA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0.60</c:v>
                  </c:pt>
                  <c:pt idx="2">
                    <c:v>0.70</c:v>
                  </c:pt>
                  <c:pt idx="3">
                    <c:v>0.80</c:v>
                  </c:pt>
                  <c:pt idx="4">
                    <c:v>0.85</c:v>
                  </c:pt>
                  <c:pt idx="5">
                    <c:v>0.90</c:v>
                  </c:pt>
                  <c:pt idx="6">
                    <c:v>0.95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4A5568"/>
                    </a:solidFill>
                    <a:latin typeface="Arial"/>
                  </a:rPr>
                  <a:t>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B4A"/>
                </a:solidFill>
                <a:latin typeface="Calibri"/>
              </a:rPr>
              <a:t>Historical approval rate by gender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</c:v>
                  </c:pt>
                  <c:pt idx="1">
                    <c:v>Salaried</c:v>
                  </c:pt>
                  <c:pt idx="2">
                    <c:v>Self-Employed</c:v>
                  </c:pt>
                  <c:pt idx="3">
                    <c:v>Business Owner</c:v>
                  </c:pt>
                  <c:pt idx="4">
                    <c:v>Gig / Contract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50.4</c:v>
                </c:pt>
                <c:pt idx="1">
                  <c:v>56.8</c:v>
                </c:pt>
                <c:pt idx="2">
                  <c:v>47.6</c:v>
                </c:pt>
                <c:pt idx="3">
                  <c:v>51.6</c:v>
                </c:pt>
                <c:pt idx="4">
                  <c:v>34.6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</c:v>
                  </c:pt>
                  <c:pt idx="1">
                    <c:v>Salaried</c:v>
                  </c:pt>
                  <c:pt idx="2">
                    <c:v>Self-Employed</c:v>
                  </c:pt>
                  <c:pt idx="3">
                    <c:v>Business Owner</c:v>
                  </c:pt>
                  <c:pt idx="4">
                    <c:v>Gig / Contract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54.1</c:v>
                </c:pt>
                <c:pt idx="1">
                  <c:v>59.1</c:v>
                </c:pt>
                <c:pt idx="2">
                  <c:v>52</c:v>
                </c:pt>
                <c:pt idx="3">
                  <c:v>51.1</c:v>
                </c:pt>
                <c:pt idx="4">
                  <c:v>35.2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  ·  MUC02 Expected Outcomes  ·  Path 2, KLU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2B4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  ·  Path 2  ·  KLU Batch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MUC02 — Expected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5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Pre-Screening Engine — what a strong submission found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80467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deck to check your own notebook step by step. Your numbers will differ slightly depending on the cleaning choices you made — within about 2–3 percentage points is expected. What matters most is whether you reached the same conclusions, and whether you said what they mean for the bank.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5.1  ·  LOAD, INSPECT AND CLEAN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in the data needed a decision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26974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2697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missing incomes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24231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Self-Employed and Business Owner applicants (11–13% of each). Fill with the median for that employment type — and note that missing income is itself a self-employed pattern.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6974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45720" cy="2697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1,039 blank credit scores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554480"/>
            <a:ext cx="24231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errors. These are new-to-credit applicants — credit_history_months is 0 for every one. Keep them and flag them with is_ntc. Dropping them removes 9% of applicants.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26974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45720" cy="2697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incomes above ₹6 lakh a month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554480"/>
            <a:ext cx="242316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Salaried. Almost certainly annual income entered as monthly. Divide by 12 — or drop them, as long as you say so.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cleaning log a bank reviewer could agree with is worth as much as the code.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5.2  ·  WHAT DRIVES APPROVAL TODAY?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credit score of 650, the bank almost never approves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097280"/>
            <a:ext cx="45720" cy="29260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answer says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463040"/>
            <a:ext cx="269748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jumps from 4.3% to 32.8% across the 650 line. The bank has an unwritten score floor — a rule a pre-screener can apply with confidence.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New-to-credit applicants are approved 53.9% of the time: the credit team is using judgement here.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/ Contract workers are approved least (34.9% vs 58.4% for Salaried).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"Lower scores get fewer approvals" describes the chart. "Below 650 the bank almost never approves" is a policy finding.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5.3  ·  AFFORDABILITY FEATURES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EMIs take more than half of income, approvals collapse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097280"/>
            <a:ext cx="45720" cy="29260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answer says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463040"/>
            <a:ext cx="269748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 = (existing EMI + proposed EMI) ÷ monthly income.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falls from 65.4% below 30% FOIR to 15.5% above 55%. The sharpest drop is past 50%.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limit of 50–55% FOIR is what the historical decisions support.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 turns out to be one of the three strongest drivers in the whole dataset — and you built it yourself.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5.4  ·  LOGISTIC REGRESSION PRE-SCREENER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accurate — but accuracy is not the number the bank cares about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216152"/>
            <a:ext cx="1554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417320"/>
            <a:ext cx="15544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15544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417320"/>
            <a:ext cx="1554480" cy="868680"/>
          </a:xfrm>
          <a:prstGeom prst="rect">
            <a:avLst/>
          </a:prstGeom>
          <a:solidFill>
            <a:srgbClr val="E8F3EC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1490472"/>
            <a:ext cx="1554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approved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0" y="1417320"/>
            <a:ext cx="1554480" cy="868680"/>
          </a:xfrm>
          <a:prstGeom prst="rect">
            <a:avLst/>
          </a:prstGeom>
          <a:solidFill>
            <a:srgbClr val="FBE9E9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490472"/>
            <a:ext cx="1554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customers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declined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2286000"/>
            <a:ext cx="155448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missed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31920" y="2286000"/>
            <a:ext cx="1554480" cy="868680"/>
          </a:xfrm>
          <a:prstGeom prst="rect">
            <a:avLst/>
          </a:prstGeom>
          <a:solidFill>
            <a:srgbClr val="E8F3EC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declined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2400 applications  ·  threshold 0.5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97280"/>
          <a:ext cx="3566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(Declined)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(Declined)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— scored applicants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— new to credit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0.5 cut-off, 225 applicants the bank approved would be turned away — and the model is barely better than a coin toss on new-to-credit applicants.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5.4  ·  WHAT PUSHES AN APPLICATION TOWARDS DECLINE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the same policy you found in Steps 5.2 and 5.3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097280"/>
            <a:ext cx="45720" cy="29260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like a credit analyst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463040"/>
            <a:ext cx="269748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pushes towards decline; negative towards approval.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FOIR, more late payments and being a gig worker push towards decline. A higher credit score and a salaried job pull towards approval.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features were scaled, sizes can be compared directly.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additional missed payment pushes an application towards decline" — say what the coefficient means for an applicant.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5.5  ·  SETTING THE AUTO-DECLINE THRESHOLD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sets the risk limit — the model shows where it falls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97280"/>
          <a:ext cx="2926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Auto-declined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is the lowest threshold within the 5% limit (4.7% wrong). At 0.5, one in five auto-declines would be a good customer.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5.5  ·  THE BUSINESS CASE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0.90 threshold is worth every month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1920240" cy="14630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applications auto-declined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14630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 month (of 3,000)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14630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 hrs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freed (25 min each)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234440"/>
            <a:ext cx="1920240" cy="14630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auto-declines were good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45720" cy="10972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953512"/>
            <a:ext cx="8001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 is modest — and why that is fine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246120"/>
            <a:ext cx="80010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auto-decline lane at a strict risk limit catches only about 30.7% of all declines. That is still roughly 190 analyst hours a month with very little risk — a safe first step the bank can build 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briefing states the threshold, the applications and the hours together — in one sentence.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5.6  ·  FAIRNESS CHECK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gap is real — but it comes mostly from income and job mix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097280"/>
            <a:ext cx="45720" cy="29260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answer says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463040"/>
            <a:ext cx="269748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54.1% male vs 50.4% female approved. Within Gig and Business Owner, the gap is under 1 point.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applicants have lower median income (₹45K vs ₹55K) and are almost twice as likely to be gig workers (21% vs 12%).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auto-decline rate is almost identical by gender.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gender out is necessary, not sufficient. Income and job type can act as stand-ins — monitor outcomes by gender after launch.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5.7  ·  CREDIT POLICY BRIEFING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distinction-level briefing sounds like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2880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7863840" cy="2697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recommend auto-declining an application only when the model is at least 90% confident it will be declined. On our test data, that removes about 15.2% of applications — roughly 456 a month, or 190 analyst hours — and fewer than 5% of those would have been approved by the credit team. Two factors drive decisions most: FOIR, where approvals fall from 65.4% below 30% to 15.5% above 55%, and credit score, where approvals are under 5% below 650. The model should not decide on new-to-credit applicants — it is right only 56.7% of the time for them — so they should always go to an analyst. Gender is not used and auto-decline rates are almost identical by gender, but income and job type can act as proxies, so I would report outcomes by gender every month. Before going live, I would want repayment data: today the model copies past analyst decisions, not whether customers actually repaid."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EF1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215384"/>
            <a:ext cx="7955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· applications and hours · two drivers with numbers · a group to keep with humans · fairness position · one more piece of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SUBMISSIONS LOSE MARKS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gaps — and what to do instead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often saw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 instead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credit scores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new-to-credit applicants and flag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as the headline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how many good customers are wrongly declined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left at 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table and the bank's 5%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listed, not explained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what each one means for an applicant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did not use gender, so it is fair"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outcomes by gender and think about proxies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into your next use case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output is a probability. The decision is a threshold — and the business sets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result into the stakeholder's units: applications, hours, customers, rupees.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who the model should not decide for — and say so plainly.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Calibo AI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Calibo AI Academy</dc:creator>
  <cp:lastModifiedBy>Calibo AI Academy</cp:lastModifiedBy>
  <cp:revision>1</cp:revision>
  <dcterms:created xsi:type="dcterms:W3CDTF">2026-10-10T19:08:45Z</dcterms:created>
  <dcterms:modified xsi:type="dcterms:W3CDTF">2026-10-10T19:08:45Z</dcterms:modified>
</cp:coreProperties>
</file>